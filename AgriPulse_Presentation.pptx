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cab8efbea8945a9" /><Relationship Type="http://schemas.openxmlformats.org/package/2006/relationships/metadata/core-properties" Target="/docProps/core.xml" Id="Rdf1d6a4edc714ad4" /><Relationship Type="http://schemas.openxmlformats.org/officeDocument/2006/relationships/extended-properties" Target="/docProps/app.xml" Id="Ree8864aca43549c2" /><Relationship Type="http://schemas.openxmlformats.org/officeDocument/2006/relationships/custom-properties" Target="/docProps/custom.xml" Id="Rac15400547da4d8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b096dbf928e4fa5"/>
  </p:notesMasterIdLst>
  <p:sldIdLst>
    <p:sldId id="256" r:id="R965aad2dc7574092"/>
    <p:sldId id="257" r:id="Rbe95ac474a834fa2"/>
    <p:sldId id="258" r:id="R12e26842575d42dd"/>
    <p:sldId id="259" r:id="Rc5885a8af3ad4266"/>
    <p:sldId id="260" r:id="Rd3a1a814303d45d2"/>
    <p:sldId id="261" r:id="Rf3361251abf84c97"/>
    <p:sldId id="262" r:id="R388f037c654341cb"/>
    <p:sldId id="263" r:id="R25a1b8b49c6c4ec2"/>
    <p:sldId id="264" r:id="R27c2e9bc5a1b453f"/>
    <p:sldId id="265" r:id="R719e05bf79dc4cbd"/>
    <p:sldId id="266" r:id="R2a7130437c904dc2"/>
    <p:sldId id="267" r:id="Rc904442e3ec94a8e"/>
    <p:sldId id="268" r:id="R02b3273decb94acc"/>
    <p:sldId id="269" r:id="R39881ea4cbad4fd3"/>
    <p:sldId id="270" r:id="Rfc83e6a78b7948d2"/>
    <p:sldId id="271" r:id="R7c4bd50b1c76493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65aad2dc7574092" /><Relationship Type="http://schemas.openxmlformats.org/officeDocument/2006/relationships/notesMaster" Target="/ppt/notesMasters/notesMaster1.xml" Id="R7b096dbf928e4fa5" /><Relationship Type="http://schemas.openxmlformats.org/officeDocument/2006/relationships/slide" Target="/ppt/slides/slide2.xml" Id="Rbe95ac474a834fa2" /><Relationship Type="http://schemas.openxmlformats.org/officeDocument/2006/relationships/slide" Target="/ppt/slides/slide3.xml" Id="R12e26842575d42dd" /><Relationship Type="http://schemas.openxmlformats.org/officeDocument/2006/relationships/slide" Target="/ppt/slides/slide4.xml" Id="Rc5885a8af3ad4266" /><Relationship Type="http://schemas.openxmlformats.org/officeDocument/2006/relationships/slide" Target="/ppt/slides/slide5.xml" Id="Rd3a1a814303d45d2" /><Relationship Type="http://schemas.openxmlformats.org/officeDocument/2006/relationships/slide" Target="/ppt/slides/slide6.xml" Id="Rf3361251abf84c97" /><Relationship Type="http://schemas.openxmlformats.org/officeDocument/2006/relationships/slide" Target="/ppt/slides/slide7.xml" Id="R388f037c654341cb" /><Relationship Type="http://schemas.openxmlformats.org/officeDocument/2006/relationships/slide" Target="/ppt/slides/slide8.xml" Id="R25a1b8b49c6c4ec2" /><Relationship Type="http://schemas.openxmlformats.org/officeDocument/2006/relationships/slide" Target="/ppt/slides/slide9.xml" Id="R27c2e9bc5a1b453f" /><Relationship Type="http://schemas.openxmlformats.org/officeDocument/2006/relationships/slide" Target="/ppt/slides/slide10.xml" Id="R719e05bf79dc4cbd" /><Relationship Type="http://schemas.openxmlformats.org/officeDocument/2006/relationships/slide" Target="/ppt/slides/slide11.xml" Id="R2a7130437c904dc2" /><Relationship Type="http://schemas.openxmlformats.org/officeDocument/2006/relationships/slide" Target="/ppt/slides/slide12.xml" Id="Rc904442e3ec94a8e" /><Relationship Type="http://schemas.openxmlformats.org/officeDocument/2006/relationships/slide" Target="/ppt/slides/slide13.xml" Id="R02b3273decb94acc" /><Relationship Type="http://schemas.openxmlformats.org/officeDocument/2006/relationships/slide" Target="/ppt/slides/slide14.xml" Id="R39881ea4cbad4fd3" /><Relationship Type="http://schemas.openxmlformats.org/officeDocument/2006/relationships/slide" Target="/ppt/slides/slide15.xml" Id="Rfc83e6a78b7948d2" /><Relationship Type="http://schemas.openxmlformats.org/officeDocument/2006/relationships/slide" Target="/ppt/slides/slide16.xml" Id="R7c4bd50b1c76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e788b8d38f4b8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3a02f4809634692" /><Relationship Type="http://schemas.openxmlformats.org/officeDocument/2006/relationships/slide" Target="/ppt/slides/slide1.xml" Id="R415a7967f857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7ef3aa20694174" /><Relationship Type="http://schemas.openxmlformats.org/officeDocument/2006/relationships/slide" Target="/ppt/slides/slide2.xml" Id="R3e96a35f82b9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1f38e1e7564fbc" /><Relationship Type="http://schemas.openxmlformats.org/officeDocument/2006/relationships/slide" Target="/ppt/slides/slide3.xml" Id="R4482cbbfe94a49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9512db73414c4f" /><Relationship Type="http://schemas.openxmlformats.org/officeDocument/2006/relationships/slide" Target="/ppt/slides/slide4.xml" Id="Rcfca636ece284c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338b727afb6475d" /><Relationship Type="http://schemas.openxmlformats.org/officeDocument/2006/relationships/slide" Target="/ppt/slides/slide5.xml" Id="R89d17e8b8b66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8dc3ff224541b6" /><Relationship Type="http://schemas.openxmlformats.org/officeDocument/2006/relationships/slide" Target="/ppt/slides/slide6.xml" Id="R07103974358e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431bbf0c5c4484" /><Relationship Type="http://schemas.openxmlformats.org/officeDocument/2006/relationships/slide" Target="/ppt/slides/slide7.xml" Id="R7f3adfc1b23642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8ca0ddc980342b8" /><Relationship Type="http://schemas.openxmlformats.org/officeDocument/2006/relationships/slide" Target="/ppt/slides/slide8.xml" Id="R651956f594344d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719dc2ee3841a3" /><Relationship Type="http://schemas.openxmlformats.org/officeDocument/2006/relationships/slide" Target="/ppt/slides/slide9.xml" Id="R29d9863b23034e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b690bb8e68c493e" /><Relationship Type="http://schemas.openxmlformats.org/officeDocument/2006/relationships/slide" Target="/ppt/slides/slide10.xml" Id="R76ac202c02cc4a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374d70c1264b42" /><Relationship Type="http://schemas.openxmlformats.org/officeDocument/2006/relationships/slide" Target="/ppt/slides/slide11.xml" Id="R245e352e71d04b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6d306991a54713" /><Relationship Type="http://schemas.openxmlformats.org/officeDocument/2006/relationships/slide" Target="/ppt/slides/slide12.xml" Id="Racc3da751dca40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a75545297f4368" /><Relationship Type="http://schemas.openxmlformats.org/officeDocument/2006/relationships/slide" Target="/ppt/slides/slide13.xml" Id="R98e51baae46e4a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b88265843ac4ef1" /><Relationship Type="http://schemas.openxmlformats.org/officeDocument/2006/relationships/slide" Target="/ppt/slides/slide14.xml" Id="Rbc2388514d6646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de43e96d3c46cf" /><Relationship Type="http://schemas.openxmlformats.org/officeDocument/2006/relationships/slide" Target="/ppt/slides/slide15.xml" Id="Ra5c0293eb3ab41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36a35b789f41fd" /><Relationship Type="http://schemas.openxmlformats.org/officeDocument/2006/relationships/slide" Target="/ppt/slides/slide16.xml" Id="R431145ba98ba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AgriPulse AI — Smart Advice. Better Farming. This is a hackathon project addressing Problem Statement 14: AI Agent for Smart Farming Advice. Built end-to-end with a multi-agent architecture, RAG pipeline, and IBM Granite compatibility.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Set the scene: India has 140M+ farming households but most lack expert advisory access. AgriPulse is built to democratise personalised crop advice using AI agents.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Problem Statement 14 from the hackathon. Farmers lose 20-40% yield from preventable causes. Core issues: weather decisions, disease detection, fertilizer guidance, real-time advice.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AgriPulse solves all identified problems with a 4-agent AI system, RAG knowledge base, farm profile, and IBM Granite compatibility. Runs locally with Ollama, scales to IBM watsonx.ai.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core objectives: personalised advisory, multi-agent routing, RAG knowledge grounding, and IBM Granite production readiness. Each maps directly to the problem statement requirements.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agentic AI: autonomous decomposition, specialist routing, result synthesis. Farming is a perfect domain because questions cross weather, biology, disease — no single model covers all.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 flow: Farmer → Farm Supervisor → 4 specialist agents in parallel → Ollama/LLama synthesis → PostgreSQL storage. The supervisor does the routing and final synthesis.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agent's domain. RAG always runs. Supervisor does keyword-based routing: weather keywords → Weather Agent, fertilizer/harvest → Crop Agent, disease/pest → Pest Agent. Synthesis by Llama/Granite.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layer. Emphasise the AI provider abstraction — same codebase works with Ollama locally and IBM Granite in production. pgvector gives us true semantic search without a separate vector DB.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RAG pipeline: documents chunked at 400 chars, embedded with MiniLM to 384-dim vectors, stored in pgvector, retrieved by cosine similarity at query time, then injected into the LLM prompt. Sources are always cited.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9-step demo flow live. Total time is under 3 minutes. Load demo farm → dashboard → AI advisor → ask irrigation question → see agents run → see Llama answer with sources.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the website live if possible. 7 pages, all connected to the backend. Key points: agent status is live from health API, confidence shown on responses, all demo data clearly labelled.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Switch to live demo here. Show the dashboard, ask the irrigation question, show agents running, show the Llama response with sources. Then show crop health demo analysis. Then farm timeline.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differentiators: AI provider abstraction, specialist routing, real RAG, transparent AI, offline-first, graceful fallbacks. These are genuine engineering decisions, not just features.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tracks: near-term integrations (Granite live, weather API, LLaVA), long-term vision (yield prediction, maps, community), and the clear IBM deployment path with just env variable changes.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 slide. Offer to switch to live demo at localhost:5173. Be ready to answer: Why multi-agent vs single LLM? Why pgvector? How does IBM Granite integration work?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002fb502d4d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f162a3ade47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f3fb1af1a49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09033a2e046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99e4dc030438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387b1d62e6942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30ce93a1e468a" /><Relationship Type="http://schemas.openxmlformats.org/officeDocument/2006/relationships/notesSlide" Target="/ppt/notesSlides/notesSlide1.xml" Id="Raf09928c0b8741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8e08803c544d4" /><Relationship Type="http://schemas.openxmlformats.org/officeDocument/2006/relationships/notesSlide" Target="/ppt/notesSlides/notesSlide2.xml" Id="R46b685e0979b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6e112d8cf48b2" /><Relationship Type="http://schemas.openxmlformats.org/officeDocument/2006/relationships/notesSlide" Target="/ppt/notesSlides/notesSlide3.xml" Id="R9cb1d09745e0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773f33fd245c3" /><Relationship Type="http://schemas.openxmlformats.org/officeDocument/2006/relationships/notesSlide" Target="/ppt/notesSlides/notesSlide4.xml" Id="R499796fb021d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1fcb3f4794f94" /><Relationship Type="http://schemas.openxmlformats.org/officeDocument/2006/relationships/notesSlide" Target="/ppt/notesSlides/notesSlide5.xml" Id="Re2ef01af518042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b324bdd074e05" /><Relationship Type="http://schemas.openxmlformats.org/officeDocument/2006/relationships/notesSlide" Target="/ppt/notesSlides/notesSlide6.xml" Id="R4a52b44dc25640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6026f2a74fa0" /><Relationship Type="http://schemas.openxmlformats.org/officeDocument/2006/relationships/notesSlide" Target="/ppt/notesSlides/notesSlide7.xml" Id="R04137c13a27d45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a0a525dda43e2" /><Relationship Type="http://schemas.openxmlformats.org/officeDocument/2006/relationships/notesSlide" Target="/ppt/notesSlides/notesSlide8.xml" Id="R10059e37fbd443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274c02dca4cda" /><Relationship Type="http://schemas.openxmlformats.org/officeDocument/2006/relationships/notesSlide" Target="/ppt/notesSlides/notesSlide9.xml" Id="Rcb84af4cd95a4e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e22b934104ddd" /><Relationship Type="http://schemas.openxmlformats.org/officeDocument/2006/relationships/notesSlide" Target="/ppt/notesSlides/notesSlide10.xml" Id="R8c22089520ab49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3347e5a34ced" /><Relationship Type="http://schemas.openxmlformats.org/officeDocument/2006/relationships/notesSlide" Target="/ppt/notesSlides/notesSlide11.xml" Id="R8f13657f3e9f4b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4a79d14524910" /><Relationship Type="http://schemas.openxmlformats.org/officeDocument/2006/relationships/notesSlide" Target="/ppt/notesSlides/notesSlide12.xml" Id="R343935e357244a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c43851093420e" /><Relationship Type="http://schemas.openxmlformats.org/officeDocument/2006/relationships/notesSlide" Target="/ppt/notesSlides/notesSlide13.xml" Id="R250cfd0fb9b54f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d1cfe491d410d" /><Relationship Type="http://schemas.openxmlformats.org/officeDocument/2006/relationships/notesSlide" Target="/ppt/notesSlides/notesSlide14.xml" Id="R9b3e647ad7a24a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62f6edff248a9" /><Relationship Type="http://schemas.openxmlformats.org/officeDocument/2006/relationships/notesSlide" Target="/ppt/notesSlides/notesSlide15.xml" Id="R08f7710277f347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c6fe1c324cf5" /><Relationship Type="http://schemas.openxmlformats.org/officeDocument/2006/relationships/notesSlide" Target="/ppt/notesSlides/notesSlide16.xml" Id="R730c18a52254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720000" y="54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HACKATHON PROJECT  •  PROBLEM STATEMENT 14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80000"/>
            <a:ext cx="1044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</a:rPr>
              <a:t>AgriPulse AI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44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86EFAC"/>
                </a:solidFill>
              </a:rPr>
              <a:t>Smart Advice. Better Farming.</a:t>
            </a:r>
          </a:p>
        </p:txBody>
      </p:sp>
      <p:sp>
        <p:nvSpPr>
          <p:cNvPr id="100003" name="Desc"/>
          <p:cNvSpPr txBox="1"/>
          <p:nvPr/>
        </p:nvSpPr>
        <p:spPr>
          <a:xfrm xmlns:a="http://schemas.openxmlformats.org/drawingml/2006/main">
            <a:off x="720000" y="3060000"/>
            <a:ext cx="90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1FAE5"/>
                </a:solidFill>
              </a:rPr>
              <a:t>An AI-powered multi-agent farming advisory system built with Ollama + Llama locally and IBM watsonx.ai + Granite for production deployment.</a:t>
            </a:r>
          </a:p>
        </p:txBody>
      </p:sp>
      <p:sp>
        <p:nvSpPr>
          <p:cNvPr id="100004" name="Stack"/>
          <p:cNvSpPr txBox="1"/>
          <p:nvPr/>
        </p:nvSpPr>
        <p:spPr>
          <a:xfrm xmlns:a="http://schemas.openxmlformats.org/drawingml/2006/main">
            <a:off x="720000" y="396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EE7B7"/>
                </a:solidFill>
              </a:rPr>
              <a:t>React  •  FastAPI  •  PostgreSQL  •  pgvector  •  Ollama  •  Docker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01</a:t>
            </a:r>
          </a:p>
        </p:txBody>
      </p:sp>
      <p:sp>
        <p:nvSpPr>
          <p:cNvPr id="100006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07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Introduction</a:t>
            </a:r>
          </a:p>
        </p:txBody>
      </p:sp>
      <p:sp>
        <p:nvSpPr>
          <p:cNvPr id="100008" name="Body"/>
          <p:cNvSpPr txBox="1"/>
          <p:nvPr/>
        </p:nvSpPr>
        <p:spPr>
          <a:xfrm xmlns:a="http://schemas.openxmlformats.org/drawingml/2006/main">
            <a:off x="540000" y="1080000"/>
            <a:ext cx="1080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India has 140 million+ farming households — yet most receive little to no personalised crop advice.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Small and marginal farmers struggle with: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Unpredictable weather and irrigation decisions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Crop disease identification without expert access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Fertilizer misuse leading to yield loss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  •  Lack of real-time, localised guidance</a:t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F2328"/>
                </a:solidFill>
              </a:rPr>
              <a:t>AgriPulse AI bridges this gap — bringing expert-level, AI-powered farming advice directly to every farmer's hands, in real time.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009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100010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1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Problem Statement</a:t>
            </a:r>
          </a:p>
        </p:txBody>
      </p:sp>
      <p:sp>
        <p:nvSpPr>
          <p:cNvPr id="100012" name="PSBox"/>
          <p:cNvSpPr txBox="1"/>
          <p:nvPr/>
        </p:nvSpPr>
        <p:spPr>
          <a:xfrm xmlns:a="http://schemas.openxmlformats.org/drawingml/2006/main">
            <a:off x="540000" y="108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Problem Statement 14</a:t>
            </a:r>
          </a:p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"Design an AI Agent for Smart Farming Advice"</a:t>
            </a:r>
          </a:p>
        </p:txBody>
      </p:sp>
      <p:sp>
        <p:nvSpPr>
          <p:cNvPr id="100013" name="Challenges"/>
          <p:cNvSpPr txBox="1"/>
          <p:nvPr/>
        </p:nvSpPr>
        <p:spPr>
          <a:xfrm xmlns:a="http://schemas.openxmlformats.org/drawingml/2006/main">
            <a:off x="540000" y="2160000"/>
            <a:ext cx="108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Key Challenges Identified: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🌧  Weather unpredictability → farmers over-irrigate or under-irrigate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🐛  Crop diseases go undetected until it is too late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🧪  Wrong fertilizer use → soil degradation + cost loss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📡  No real-time, personalised, localised advisory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💬  Language and literacy barriers limit access to expert knowledge</a:t>
            </a:r>
          </a:p>
          <a:p xmlns:a="http://schemas.openxmlformats.org/drawingml/2006/main">
            <a:r>
              <a:rPr lang="en-US" sz="1700">
                <a:solidFill>
                  <a:srgbClr val="1F2328"/>
                </a:solidFill>
              </a:rPr>
              <a:t>📉  Yield losses of 20–40% from preventable causes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00015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Proposed Solution</a:t>
            </a:r>
          </a:p>
        </p:txBody>
      </p:sp>
      <p:sp>
        <p:nvSpPr>
          <p:cNvPr id="100017" name="Intro"/>
          <p:cNvSpPr txBox="1"/>
          <p:nvPr/>
        </p:nvSpPr>
        <p:spPr>
          <a:xfrm xmlns:a="http://schemas.openxmlformats.org/drawingml/2006/main">
            <a:off x="540000" y="108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5803D"/>
                </a:solidFill>
              </a:rPr>
              <a:t>AgriPulse AI is a full-stack, multi-agent AI farming advisor that gives every farmer a personalised expert in their pocket.</a:t>
            </a:r>
          </a:p>
        </p:txBody>
      </p:sp>
      <p:sp>
        <p:nvSpPr>
          <p:cNvPr id="100018" name="Points"/>
          <p:cNvSpPr txBox="1"/>
          <p:nvPr/>
        </p:nvSpPr>
        <p:spPr>
          <a:xfrm xmlns:a="http://schemas.openxmlformats.org/drawingml/2006/main">
            <a:off x="540000" y="1872000"/>
            <a:ext cx="1080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Four specialised AI agents: Crop, Weather, Pest &amp; Disease, and RAG Knowledge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A Farm Supervisor that intelligently routes questions to the right agents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Real RAG pipeline backed by PostgreSQL + pgvector for grounded answers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Crop health analysis via image upload (with demo mode)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Personalised farm profile: crop, soil, irrigation, location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AI provider abstraction: Ollama + Llama locally → IBM watsonx.ai + Granite for production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Clean dashboard with daily action plan, weather, soil and risk cards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</a:rPr>
              <a:t>✅  Complete Docker Compose deployment — runs with a single command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019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04</a:t>
            </a:r>
          </a:p>
        </p:txBody>
      </p:sp>
      <p:sp>
        <p:nvSpPr>
          <p:cNvPr id="100020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2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Objectives</a:t>
            </a:r>
          </a:p>
        </p:txBody>
      </p:sp>
      <p:sp>
        <p:nvSpPr>
          <p:cNvPr id="100022" name="Obj1"/>
          <p:cNvSpPr txBox="1"/>
          <p:nvPr/>
        </p:nvSpPr>
        <p:spPr>
          <a:xfrm xmlns:a="http://schemas.openxmlformats.org/drawingml/2006/main">
            <a:off x="540000" y="1080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01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Personalised AI Advisory</a:t>
            </a:r>
          </a:p>
        </p:txBody>
      </p:sp>
      <p:sp>
        <p:nvSpPr>
          <p:cNvPr id="100023" name="Obj1b"/>
          <p:cNvSpPr txBox="1"/>
          <p:nvPr/>
        </p:nvSpPr>
        <p:spPr>
          <a:xfrm xmlns:a="http://schemas.openxmlformats.org/drawingml/2006/main">
            <a:off x="540000" y="2412000"/>
            <a:ext cx="48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Deliver crop-specific, location-aware recommendations tailored to each farmer's profile.</a:t>
            </a:r>
          </a:p>
        </p:txBody>
      </p:sp>
      <p:sp>
        <p:nvSpPr>
          <p:cNvPr id="100024" name="Obj2"/>
          <p:cNvSpPr txBox="1"/>
          <p:nvPr/>
        </p:nvSpPr>
        <p:spPr>
          <a:xfrm xmlns:a="http://schemas.openxmlformats.org/drawingml/2006/main">
            <a:off x="5940000" y="108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02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Multi-Agent Intelligence</a:t>
            </a:r>
          </a:p>
        </p:txBody>
      </p:sp>
      <p:sp>
        <p:nvSpPr>
          <p:cNvPr id="100025" name="Obj2b"/>
          <p:cNvSpPr txBox="1"/>
          <p:nvPr/>
        </p:nvSpPr>
        <p:spPr>
          <a:xfrm xmlns:a="http://schemas.openxmlformats.org/drawingml/2006/main">
            <a:off x="5940000" y="2412000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Route every question to the right specialist agent and synthesise results into one clear action.</a:t>
            </a:r>
          </a:p>
        </p:txBody>
      </p:sp>
      <p:sp>
        <p:nvSpPr>
          <p:cNvPr id="100026" name="Obj3"/>
          <p:cNvSpPr txBox="1"/>
          <p:nvPr/>
        </p:nvSpPr>
        <p:spPr>
          <a:xfrm xmlns:a="http://schemas.openxmlformats.org/drawingml/2006/main">
            <a:off x="540000" y="3420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03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Knowledge-Grounded RAG</a:t>
            </a:r>
          </a:p>
        </p:txBody>
      </p:sp>
      <p:sp>
        <p:nvSpPr>
          <p:cNvPr id="100027" name="Obj3b"/>
          <p:cNvSpPr txBox="1"/>
          <p:nvPr/>
        </p:nvSpPr>
        <p:spPr>
          <a:xfrm xmlns:a="http://schemas.openxmlformats.org/drawingml/2006/main">
            <a:off x="540000" y="4752000"/>
            <a:ext cx="48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Ground every answer in a verified agricultural knowledge base via pgvector similarity search.</a:t>
            </a:r>
          </a:p>
        </p:txBody>
      </p:sp>
      <p:sp>
        <p:nvSpPr>
          <p:cNvPr id="100028" name="Obj4"/>
          <p:cNvSpPr txBox="1"/>
          <p:nvPr/>
        </p:nvSpPr>
        <p:spPr>
          <a:xfrm xmlns:a="http://schemas.openxmlformats.org/drawingml/2006/main">
            <a:off x="5940000" y="342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04</a:t>
            </a:r>
          </a:p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IBM Granite Ready</a:t>
            </a:r>
          </a:p>
        </p:txBody>
      </p:sp>
      <p:sp>
        <p:nvSpPr>
          <p:cNvPr id="100029" name="Obj4b"/>
          <p:cNvSpPr txBox="1"/>
          <p:nvPr/>
        </p:nvSpPr>
        <p:spPr>
          <a:xfrm xmlns:a="http://schemas.openxmlformats.org/drawingml/2006/main">
            <a:off x="5940000" y="4752000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Design provider abstraction so the system switches from Ollama to IBM watsonx.ai + Granite with one env variable.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030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05</a:t>
            </a:r>
          </a:p>
        </p:txBody>
      </p:sp>
      <p:sp>
        <p:nvSpPr>
          <p:cNvPr id="10003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Agentic AI in Smart Farming</a:t>
            </a:r>
          </a:p>
        </p:txBody>
      </p:sp>
      <p:sp>
        <p:nvSpPr>
          <p:cNvPr id="100032" name="Def"/>
          <p:cNvSpPr txBox="1"/>
          <p:nvPr/>
        </p:nvSpPr>
        <p:spPr>
          <a:xfrm xmlns:a="http://schemas.openxmlformats.org/drawingml/2006/main">
            <a:off x="540000" y="108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What is Agentic AI?</a:t>
            </a:r>
          </a:p>
        </p:txBody>
      </p:sp>
      <p:sp>
        <p:nvSpPr>
          <p:cNvPr id="100033" name="DefBody"/>
          <p:cNvSpPr txBox="1"/>
          <p:nvPr/>
        </p:nvSpPr>
        <p:spPr>
          <a:xfrm xmlns:a="http://schemas.openxmlformats.org/drawingml/2006/main">
            <a:off x="540000" y="1440000"/>
            <a:ext cx="104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D1FAE5"/>
                </a:solidFill>
              </a:rPr>
              <a:t>Agentic AI refers to AI systems that autonomously decompose a goal into sub-tasks, select the right tools or sub-agents, and combine results — without needing step-by-step human instruction.</a:t>
            </a:r>
          </a:p>
        </p:txBody>
      </p:sp>
      <p:sp>
        <p:nvSpPr>
          <p:cNvPr id="100034" name="WhyFarming"/>
          <p:cNvSpPr txBox="1"/>
          <p:nvPr/>
        </p:nvSpPr>
        <p:spPr>
          <a:xfrm xmlns:a="http://schemas.openxmlformats.org/drawingml/2006/main">
            <a:off x="540000" y="234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Why Agentic AI for Farming?</a:t>
            </a:r>
          </a:p>
        </p:txBody>
      </p:sp>
      <p:sp>
        <p:nvSpPr>
          <p:cNvPr id="100035" name="Points"/>
          <p:cNvSpPr txBox="1"/>
          <p:nvPr/>
        </p:nvSpPr>
        <p:spPr>
          <a:xfrm xmlns:a="http://schemas.openxmlformats.org/drawingml/2006/main">
            <a:off x="540000" y="2700000"/>
            <a:ext cx="104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🌾  A farmer's question crosses multiple domains: weather, soil, crop biology, disease — no single model handles all equally well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🤖  Specialist agents outperform one general model on domain-specific tasks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🔄  Supervisor orchestration routes context to the right expert and merges the answers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📚  RAG grounding ensures answers come from verified agricultural science, not hallucination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⚡  IBM Granite on watsonx.ai provides enterprise-grade, safe, and auditable AI for real-world deployment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6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06</a:t>
            </a:r>
          </a:p>
        </p:txBody>
      </p:sp>
      <p:sp>
        <p:nvSpPr>
          <p:cNvPr id="100037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38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Multi-Agent Architecture</a:t>
            </a:r>
          </a:p>
        </p:txBody>
      </p:sp>
      <p:sp>
        <p:nvSpPr>
          <p:cNvPr id="100039" name="Farmer"/>
          <p:cNvSpPr txBox="1"/>
          <p:nvPr/>
        </p:nvSpPr>
        <p:spPr>
          <a:xfrm xmlns:a="http://schemas.openxmlformats.org/drawingml/2006/main">
            <a:off x="4680000" y="1008000"/>
            <a:ext cx="25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👨‍🌾  FARMER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Asks a question</a:t>
            </a:r>
          </a:p>
        </p:txBody>
      </p:sp>
      <p:sp>
        <p:nvSpPr>
          <p:cNvPr id="100040" name="Arrow1"/>
          <p:cNvSpPr txBox="1"/>
          <p:nvPr/>
        </p:nvSpPr>
        <p:spPr>
          <a:xfrm xmlns:a="http://schemas.openxmlformats.org/drawingml/2006/main">
            <a:off x="5040000" y="1620000"/>
            <a:ext cx="1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↓  Farm Profile Context</a:t>
            </a:r>
          </a:p>
        </p:txBody>
      </p:sp>
      <p:sp>
        <p:nvSpPr>
          <p:cNvPr id="100041" name="Supervisor"/>
          <p:cNvSpPr txBox="1"/>
          <p:nvPr/>
        </p:nvSpPr>
        <p:spPr>
          <a:xfrm xmlns:a="http://schemas.openxmlformats.org/drawingml/2006/main">
            <a:off x="3600000" y="1908000"/>
            <a:ext cx="46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🤖  FARM SUPERVISOR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Routes query • Runs agents • Synthesises answer</a:t>
            </a:r>
          </a:p>
        </p:txBody>
      </p:sp>
      <p:sp>
        <p:nvSpPr>
          <p:cNvPr id="100042" name="Arrow2"/>
          <p:cNvSpPr txBox="1"/>
          <p:nvPr/>
        </p:nvSpPr>
        <p:spPr>
          <a:xfrm xmlns:a="http://schemas.openxmlformats.org/drawingml/2006/main">
            <a:off x="3600000" y="2592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5803D"/>
                </a:solidFill>
              </a:rPr>
              <a:t>↙          ↓          ↓          ↘</a:t>
            </a:r>
          </a:p>
        </p:txBody>
      </p:sp>
      <p:sp>
        <p:nvSpPr>
          <p:cNvPr id="100043" name="A1"/>
          <p:cNvSpPr txBox="1"/>
          <p:nvPr/>
        </p:nvSpPr>
        <p:spPr>
          <a:xfrm xmlns:a="http://schemas.openxmlformats.org/drawingml/2006/main">
            <a:off x="54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🌱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Crop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4" name="A2"/>
          <p:cNvSpPr txBox="1"/>
          <p:nvPr/>
        </p:nvSpPr>
        <p:spPr>
          <a:xfrm xmlns:a="http://schemas.openxmlformats.org/drawingml/2006/main">
            <a:off x="342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🌦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Weather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5" name="A3"/>
          <p:cNvSpPr txBox="1"/>
          <p:nvPr/>
        </p:nvSpPr>
        <p:spPr>
          <a:xfrm xmlns:a="http://schemas.openxmlformats.org/drawingml/2006/main">
            <a:off x="630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🐛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Pest/Disease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6" name="A4"/>
          <p:cNvSpPr txBox="1"/>
          <p:nvPr/>
        </p:nvSpPr>
        <p:spPr>
          <a:xfrm xmlns:a="http://schemas.openxmlformats.org/drawingml/2006/main">
            <a:off x="9180000" y="2952000"/>
            <a:ext cx="2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📚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RAG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47" name="Arrow3"/>
          <p:cNvSpPr txBox="1"/>
          <p:nvPr/>
        </p:nvSpPr>
        <p:spPr>
          <a:xfrm xmlns:a="http://schemas.openxmlformats.org/drawingml/2006/main">
            <a:off x="3600000" y="3924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5803D"/>
                </a:solidFill>
              </a:rPr>
              <a:t>↘          ↓          ↓          ↙</a:t>
            </a:r>
          </a:p>
        </p:txBody>
      </p:sp>
      <p:sp>
        <p:nvSpPr>
          <p:cNvPr id="100048" name="LLM"/>
          <p:cNvSpPr txBox="1"/>
          <p:nvPr/>
        </p:nvSpPr>
        <p:spPr>
          <a:xfrm xmlns:a="http://schemas.openxmlformats.org/drawingml/2006/main">
            <a:off x="3240000" y="4248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⚡  OLLAMA + LLAMA  (→ IBM watsonx.ai + Granite)</a:t>
            </a:r>
          </a:p>
        </p:txBody>
      </p:sp>
      <p:sp>
        <p:nvSpPr>
          <p:cNvPr id="100049" name="DB"/>
          <p:cNvSpPr txBox="1"/>
          <p:nvPr/>
        </p:nvSpPr>
        <p:spPr>
          <a:xfrm xmlns:a="http://schemas.openxmlformats.org/drawingml/2006/main">
            <a:off x="3240000" y="4896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💾  PostgreSQL + pgvector  (Knowledge Base + Farm Data)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050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07</a:t>
            </a:r>
          </a:p>
        </p:txBody>
      </p:sp>
      <p:sp>
        <p:nvSpPr>
          <p:cNvPr id="100051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52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Agents &amp; Their Roles</a:t>
            </a:r>
          </a:p>
        </p:txBody>
      </p:sp>
      <p:sp>
        <p:nvSpPr>
          <p:cNvPr id="100053" name="AgentHeader"/>
          <p:cNvSpPr txBox="1"/>
          <p:nvPr/>
        </p:nvSpPr>
        <p:spPr>
          <a:xfrm xmlns:a="http://schemas.openxmlformats.org/drawingml/2006/main">
            <a:off x="540000" y="1080000"/>
            <a:ext cx="25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0054" name="HandlesHeader"/>
          <p:cNvSpPr txBox="1"/>
          <p:nvPr/>
        </p:nvSpPr>
        <p:spPr>
          <a:xfrm xmlns:a="http://schemas.openxmlformats.org/drawingml/2006/main">
            <a:off x="3240000" y="1080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Handles</a:t>
            </a:r>
          </a:p>
        </p:txBody>
      </p:sp>
      <p:sp>
        <p:nvSpPr>
          <p:cNvPr id="100055" name="RoutingHeader"/>
          <p:cNvSpPr txBox="1"/>
          <p:nvPr/>
        </p:nvSpPr>
        <p:spPr>
          <a:xfrm xmlns:a="http://schemas.openxmlformats.org/drawingml/2006/main">
            <a:off x="7380000" y="1080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Routing Trigger</a:t>
            </a:r>
          </a:p>
        </p:txBody>
      </p:sp>
      <p:sp>
        <p:nvSpPr>
          <p:cNvPr id="100056" name="R1A"/>
          <p:cNvSpPr txBox="1"/>
          <p:nvPr/>
        </p:nvSpPr>
        <p:spPr>
          <a:xfrm xmlns:a="http://schemas.openxmlformats.org/drawingml/2006/main">
            <a:off x="540000" y="1440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🌱 Crop Advisory Agent</a:t>
            </a:r>
          </a:p>
        </p:txBody>
      </p:sp>
      <p:sp>
        <p:nvSpPr>
          <p:cNvPr id="100057" name="R1B"/>
          <p:cNvSpPr txBox="1"/>
          <p:nvPr/>
        </p:nvSpPr>
        <p:spPr>
          <a:xfrm xmlns:a="http://schemas.openxmlformats.org/drawingml/2006/main">
            <a:off x="3240000" y="1440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Growth stages, fertilizer schedules, harvesting guidance, soil nutrient advice</a:t>
            </a:r>
          </a:p>
        </p:txBody>
      </p:sp>
      <p:sp>
        <p:nvSpPr>
          <p:cNvPr id="100058" name="R1C"/>
          <p:cNvSpPr txBox="1"/>
          <p:nvPr/>
        </p:nvSpPr>
        <p:spPr>
          <a:xfrm xmlns:a="http://schemas.openxmlformats.org/drawingml/2006/main">
            <a:off x="7380000" y="1440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Keywords: fertilize, harvest, plant, grow, nutrient, yield</a:t>
            </a:r>
          </a:p>
        </p:txBody>
      </p:sp>
      <p:sp>
        <p:nvSpPr>
          <p:cNvPr id="100059" name="R2A"/>
          <p:cNvSpPr txBox="1"/>
          <p:nvPr/>
        </p:nvSpPr>
        <p:spPr>
          <a:xfrm xmlns:a="http://schemas.openxmlformats.org/drawingml/2006/main">
            <a:off x="540000" y="2304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🌦 Weather &amp; Irrigation Agent</a:t>
            </a:r>
          </a:p>
        </p:txBody>
      </p:sp>
      <p:sp>
        <p:nvSpPr>
          <p:cNvPr id="100060" name="R2B"/>
          <p:cNvSpPr txBox="1"/>
          <p:nvPr/>
        </p:nvSpPr>
        <p:spPr>
          <a:xfrm xmlns:a="http://schemas.openxmlformats.org/drawingml/2006/main">
            <a:off x="3240000" y="2304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Rain probability, temperature, soil moisture, irrigation decision (IRRIGATE / DELAY / MONITOR)</a:t>
            </a:r>
          </a:p>
        </p:txBody>
      </p:sp>
      <p:sp>
        <p:nvSpPr>
          <p:cNvPr id="100061" name="R2C"/>
          <p:cNvSpPr txBox="1"/>
          <p:nvPr/>
        </p:nvSpPr>
        <p:spPr>
          <a:xfrm xmlns:a="http://schemas.openxmlformats.org/drawingml/2006/main">
            <a:off x="7380000" y="2304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Keywords: irrigate, water, rain, weather, moisture, drought</a:t>
            </a:r>
          </a:p>
        </p:txBody>
      </p:sp>
      <p:sp>
        <p:nvSpPr>
          <p:cNvPr id="100062" name="R3A"/>
          <p:cNvSpPr txBox="1"/>
          <p:nvPr/>
        </p:nvSpPr>
        <p:spPr>
          <a:xfrm xmlns:a="http://schemas.openxmlformats.org/drawingml/2006/main">
            <a:off x="540000" y="3168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🐛 Pest &amp; Disease Agent</a:t>
            </a:r>
          </a:p>
        </p:txBody>
      </p:sp>
      <p:sp>
        <p:nvSpPr>
          <p:cNvPr id="100063" name="R3B"/>
          <p:cNvSpPr txBox="1"/>
          <p:nvPr/>
        </p:nvSpPr>
        <p:spPr>
          <a:xfrm xmlns:a="http://schemas.openxmlformats.org/drawingml/2006/main">
            <a:off x="3240000" y="3168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Disease/pest identification from description or image, severity, treatment, prevention (Demo mode for image)</a:t>
            </a:r>
          </a:p>
        </p:txBody>
      </p:sp>
      <p:sp>
        <p:nvSpPr>
          <p:cNvPr id="100064" name="R3C"/>
          <p:cNvSpPr txBox="1"/>
          <p:nvPr/>
        </p:nvSpPr>
        <p:spPr>
          <a:xfrm xmlns:a="http://schemas.openxmlformats.org/drawingml/2006/main">
            <a:off x="7380000" y="3168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Keywords: disease, pest, leaf, spot, blight, rot, dying</a:t>
            </a:r>
          </a:p>
        </p:txBody>
      </p:sp>
      <p:sp>
        <p:nvSpPr>
          <p:cNvPr id="100065" name="R4A"/>
          <p:cNvSpPr txBox="1"/>
          <p:nvPr/>
        </p:nvSpPr>
        <p:spPr>
          <a:xfrm xmlns:a="http://schemas.openxmlformats.org/drawingml/2006/main">
            <a:off x="540000" y="4032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📚 RAG Knowledge Agent</a:t>
            </a:r>
          </a:p>
        </p:txBody>
      </p:sp>
      <p:sp>
        <p:nvSpPr>
          <p:cNvPr id="100066" name="R4B"/>
          <p:cNvSpPr txBox="1"/>
          <p:nvPr/>
        </p:nvSpPr>
        <p:spPr>
          <a:xfrm xmlns:a="http://schemas.openxmlformats.org/drawingml/2006/main">
            <a:off x="3240000" y="4032000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pgvector similarity search over agricultural knowledge base — grounds every answer in verified science</a:t>
            </a:r>
          </a:p>
        </p:txBody>
      </p:sp>
      <p:sp>
        <p:nvSpPr>
          <p:cNvPr id="100067" name="R4C"/>
          <p:cNvSpPr txBox="1"/>
          <p:nvPr/>
        </p:nvSpPr>
        <p:spPr>
          <a:xfrm xmlns:a="http://schemas.openxmlformats.org/drawingml/2006/main">
            <a:off x="7380000" y="4032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Always activated — provides source citations for all answers</a:t>
            </a:r>
          </a:p>
        </p:txBody>
      </p:sp>
      <p:sp>
        <p:nvSpPr>
          <p:cNvPr id="100068" name="SupervisorNote"/>
          <p:cNvSpPr txBox="1"/>
          <p:nvPr/>
        </p:nvSpPr>
        <p:spPr>
          <a:xfrm xmlns:a="http://schemas.openxmlformats.org/drawingml/2006/main">
            <a:off x="540000" y="5040000"/>
            <a:ext cx="10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🤖 Farm Supervisor — always active. Receives the query, selects agents, runs them in parallel, and synthesises one final recommendation.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9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08</a:t>
            </a:r>
          </a:p>
        </p:txBody>
      </p:sp>
      <p:sp>
        <p:nvSpPr>
          <p:cNvPr id="100070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071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Technology Used</a:t>
            </a:r>
          </a:p>
        </p:txBody>
      </p:sp>
      <p:sp>
        <p:nvSpPr>
          <p:cNvPr id="100072" name="FE"/>
          <p:cNvSpPr txBox="1"/>
          <p:nvPr/>
        </p:nvSpPr>
        <p:spPr>
          <a:xfrm xmlns:a="http://schemas.openxmlformats.org/drawingml/2006/main">
            <a:off x="540000" y="1080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0073" name="FEBody"/>
          <p:cNvSpPr txBox="1"/>
          <p:nvPr/>
        </p:nvSpPr>
        <p:spPr>
          <a:xfrm xmlns:a="http://schemas.openxmlformats.org/drawingml/2006/main">
            <a:off x="540000" y="144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React 18 + Vite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TypeScript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Tailwind CSS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React Router v6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Axios</a:t>
            </a:r>
          </a:p>
        </p:txBody>
      </p:sp>
      <p:sp>
        <p:nvSpPr>
          <p:cNvPr id="100074" name="BE"/>
          <p:cNvSpPr txBox="1"/>
          <p:nvPr/>
        </p:nvSpPr>
        <p:spPr>
          <a:xfrm xmlns:a="http://schemas.openxmlformats.org/drawingml/2006/main">
            <a:off x="4140000" y="1080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0075" name="BEBody"/>
          <p:cNvSpPr txBox="1"/>
          <p:nvPr/>
        </p:nvSpPr>
        <p:spPr>
          <a:xfrm xmlns:a="http://schemas.openxmlformats.org/drawingml/2006/main">
            <a:off x="4140000" y="144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Python 3.11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FastAPI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SQLAlchemy 2.0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Pydantic v2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pgvector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Sentence Transformers</a:t>
            </a:r>
          </a:p>
        </p:txBody>
      </p:sp>
      <p:sp>
        <p:nvSpPr>
          <p:cNvPr id="100076" name="AI"/>
          <p:cNvSpPr txBox="1"/>
          <p:nvPr/>
        </p:nvSpPr>
        <p:spPr>
          <a:xfrm xmlns:a="http://schemas.openxmlformats.org/drawingml/2006/main">
            <a:off x="7740000" y="1080000"/>
            <a:ext cx="36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AI / Models</a:t>
            </a:r>
          </a:p>
        </p:txBody>
      </p:sp>
      <p:sp>
        <p:nvSpPr>
          <p:cNvPr id="100077" name="AIBody"/>
          <p:cNvSpPr txBox="1"/>
          <p:nvPr/>
        </p:nvSpPr>
        <p:spPr>
          <a:xfrm xmlns:a="http://schemas.openxmlformats.org/drawingml/2006/main">
            <a:off x="7740000" y="144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Ollama (local)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Llama 3.2:3b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IBM watsonx.ai (ready)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IBM Granite 13B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all-MiniLM-L6-v2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(384-dim embeddings)</a:t>
            </a:r>
          </a:p>
        </p:txBody>
      </p:sp>
      <p:sp>
        <p:nvSpPr>
          <p:cNvPr id="100078" name="DB"/>
          <p:cNvSpPr txBox="1"/>
          <p:nvPr/>
        </p:nvSpPr>
        <p:spPr>
          <a:xfrm xmlns:a="http://schemas.openxmlformats.org/drawingml/2006/main">
            <a:off x="540000" y="3312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00079" name="DBBody"/>
          <p:cNvSpPr txBox="1"/>
          <p:nvPr/>
        </p:nvSpPr>
        <p:spPr>
          <a:xfrm xmlns:a="http://schemas.openxmlformats.org/drawingml/2006/main">
            <a:off x="540000" y="367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PostgreSQL 16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pgvector extension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11 tables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48 RAG chunks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Foreign key relationships</a:t>
            </a:r>
          </a:p>
        </p:txBody>
      </p:sp>
      <p:sp>
        <p:nvSpPr>
          <p:cNvPr id="100080" name="Infra"/>
          <p:cNvSpPr txBox="1"/>
          <p:nvPr/>
        </p:nvSpPr>
        <p:spPr>
          <a:xfrm xmlns:a="http://schemas.openxmlformats.org/drawingml/2006/main">
            <a:off x="4140000" y="3312000"/>
            <a:ext cx="32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100081" name="InfraBody"/>
          <p:cNvSpPr txBox="1"/>
          <p:nvPr/>
        </p:nvSpPr>
        <p:spPr>
          <a:xfrm xmlns:a="http://schemas.openxmlformats.org/drawingml/2006/main">
            <a:off x="4140000" y="3672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Docker Compose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4 containers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Hot-reload backend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Vite dev server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Volume persistence</a:t>
            </a:r>
          </a:p>
        </p:txBody>
      </p:sp>
      <p:sp>
        <p:nvSpPr>
          <p:cNvPr id="100082" name="Why"/>
          <p:cNvSpPr txBox="1"/>
          <p:nvPr/>
        </p:nvSpPr>
        <p:spPr>
          <a:xfrm xmlns:a="http://schemas.openxmlformats.org/drawingml/2006/main">
            <a:off x="7740000" y="3312000"/>
            <a:ext cx="36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Why this stack?</a:t>
            </a:r>
          </a:p>
          <a:p xmlns:a="http://schemas.openxmlformats.org/drawingml/2006/main">
            <a:r>
              <a:rPr lang="en-US" sz="1400" b="0">
                <a:solidFill>
                  <a:srgbClr val="1F2328"/>
                </a:solidFill>
              </a:rPr>
              <a:t>All open-source • Production-grade • Zero vendor lock-in • IBM Granite plug-in ready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083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09</a:t>
            </a:r>
          </a:p>
        </p:txBody>
      </p:sp>
      <p:sp>
        <p:nvSpPr>
          <p:cNvPr id="100084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RAG Architecture</a:t>
            </a:r>
          </a:p>
        </p:txBody>
      </p:sp>
      <p:sp>
        <p:nvSpPr>
          <p:cNvPr id="100085" name="Sub"/>
          <p:cNvSpPr txBox="1"/>
          <p:nvPr/>
        </p:nvSpPr>
        <p:spPr>
          <a:xfrm xmlns:a="http://schemas.openxmlformats.org/drawingml/2006/main">
            <a:off x="540000" y="100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6EFAC"/>
                </a:solidFill>
              </a:rPr>
              <a:t>Retrieval-Augmented Generation — grounding AI answers in real agricultural science</a:t>
            </a:r>
          </a:p>
        </p:txBody>
      </p:sp>
      <p:sp>
        <p:nvSpPr>
          <p:cNvPr id="100086" name="S1"/>
          <p:cNvSpPr txBox="1"/>
          <p:nvPr/>
        </p:nvSpPr>
        <p:spPr>
          <a:xfrm xmlns:a="http://schemas.openxmlformats.org/drawingml/2006/main">
            <a:off x="360000" y="1440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1. DOCUMENTS</a:t>
            </a:r>
          </a:p>
        </p:txBody>
      </p:sp>
      <p:sp>
        <p:nvSpPr>
          <p:cNvPr id="100087" name="S1b"/>
          <p:cNvSpPr txBox="1"/>
          <p:nvPr/>
        </p:nvSpPr>
        <p:spPr>
          <a:xfrm xmlns:a="http://schemas.openxmlformats.org/drawingml/2006/main">
            <a:off x="360000" y="1944000"/>
            <a:ext cx="19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4 knowledge files: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Tomato cultivation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Irrigation management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Fertilizer guidance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Crop diseases &amp; pests</a:t>
            </a:r>
          </a:p>
        </p:txBody>
      </p:sp>
      <p:sp>
        <p:nvSpPr>
          <p:cNvPr id="100088" name="Ar1"/>
          <p:cNvSpPr txBox="1"/>
          <p:nvPr/>
        </p:nvSpPr>
        <p:spPr>
          <a:xfrm xmlns:a="http://schemas.openxmlformats.org/drawingml/2006/main">
            <a:off x="2520000" y="21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00089" name="S2"/>
          <p:cNvSpPr txBox="1"/>
          <p:nvPr/>
        </p:nvSpPr>
        <p:spPr>
          <a:xfrm xmlns:a="http://schemas.openxmlformats.org/drawingml/2006/main">
            <a:off x="2952000" y="1440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2. CHUNKING</a:t>
            </a:r>
          </a:p>
        </p:txBody>
      </p:sp>
      <p:sp>
        <p:nvSpPr>
          <p:cNvPr id="100090" name="S2b"/>
          <p:cNvSpPr txBox="1"/>
          <p:nvPr/>
        </p:nvSpPr>
        <p:spPr>
          <a:xfrm xmlns:a="http://schemas.openxmlformats.org/drawingml/2006/main">
            <a:off x="2952000" y="1944000"/>
            <a:ext cx="19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400 char chunks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80 char overlap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Sentence-aware split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48 chunks total</a:t>
            </a:r>
          </a:p>
        </p:txBody>
      </p:sp>
      <p:sp>
        <p:nvSpPr>
          <p:cNvPr id="100091" name="Ar2"/>
          <p:cNvSpPr txBox="1"/>
          <p:nvPr/>
        </p:nvSpPr>
        <p:spPr>
          <a:xfrm xmlns:a="http://schemas.openxmlformats.org/drawingml/2006/main">
            <a:off x="5112000" y="21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00092" name="S3"/>
          <p:cNvSpPr txBox="1"/>
          <p:nvPr/>
        </p:nvSpPr>
        <p:spPr>
          <a:xfrm xmlns:a="http://schemas.openxmlformats.org/drawingml/2006/main">
            <a:off x="5544000" y="1440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3. EMBEDDINGS</a:t>
            </a:r>
          </a:p>
        </p:txBody>
      </p:sp>
      <p:sp>
        <p:nvSpPr>
          <p:cNvPr id="100093" name="S3b"/>
          <p:cNvSpPr txBox="1"/>
          <p:nvPr/>
        </p:nvSpPr>
        <p:spPr>
          <a:xfrm xmlns:a="http://schemas.openxmlformats.org/drawingml/2006/main">
            <a:off x="5544000" y="1944000"/>
            <a:ext cx="19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all-MiniLM-L6-v2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384-dimensional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normalised vectors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Stored in pgvector</a:t>
            </a:r>
          </a:p>
        </p:txBody>
      </p:sp>
      <p:sp>
        <p:nvSpPr>
          <p:cNvPr id="100094" name="Ar3"/>
          <p:cNvSpPr txBox="1"/>
          <p:nvPr/>
        </p:nvSpPr>
        <p:spPr>
          <a:xfrm xmlns:a="http://schemas.openxmlformats.org/drawingml/2006/main">
            <a:off x="7704000" y="21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00095" name="S4"/>
          <p:cNvSpPr txBox="1"/>
          <p:nvPr/>
        </p:nvSpPr>
        <p:spPr>
          <a:xfrm xmlns:a="http://schemas.openxmlformats.org/drawingml/2006/main">
            <a:off x="8136000" y="1440000"/>
            <a:ext cx="28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4. RETRIEVAL</a:t>
            </a:r>
          </a:p>
        </p:txBody>
      </p:sp>
      <p:sp>
        <p:nvSpPr>
          <p:cNvPr id="100096" name="S4b"/>
          <p:cNvSpPr txBox="1"/>
          <p:nvPr/>
        </p:nvSpPr>
        <p:spPr>
          <a:xfrm xmlns:a="http://schemas.openxmlformats.org/drawingml/2006/main">
            <a:off x="8136000" y="1944000"/>
            <a:ext cx="28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Cosine similarity search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Top-4 chunks retrieved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Keyword fallback if</a:t>
            </a:r>
          </a:p>
          <a:p xmlns:a="http://schemas.openxmlformats.org/drawingml/2006/main">
            <a:r>
              <a:rPr lang="en-US" sz="1200">
                <a:solidFill>
                  <a:srgbClr val="D1FAE5"/>
                </a:solidFill>
              </a:rPr>
              <a:t>embeddings unavailable</a:t>
            </a:r>
          </a:p>
        </p:txBody>
      </p:sp>
      <p:sp>
        <p:nvSpPr>
          <p:cNvPr id="100097" name="Arrow4"/>
          <p:cNvSpPr txBox="1"/>
          <p:nvPr/>
        </p:nvSpPr>
        <p:spPr>
          <a:xfrm xmlns:a="http://schemas.openxmlformats.org/drawingml/2006/main">
            <a:off x="3600000" y="3420000"/>
            <a:ext cx="46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6EFAC"/>
                </a:solidFill>
              </a:rPr>
              <a:t>↓  Relevant context injected into LLM prompt</a:t>
            </a:r>
          </a:p>
        </p:txBody>
      </p:sp>
      <p:sp>
        <p:nvSpPr>
          <p:cNvPr id="100098" name="LLMBox"/>
          <p:cNvSpPr txBox="1"/>
          <p:nvPr/>
        </p:nvSpPr>
        <p:spPr>
          <a:xfrm xmlns:a="http://schemas.openxmlformats.org/drawingml/2006/main">
            <a:off x="2520000" y="3780000"/>
            <a:ext cx="68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⚡  Ollama + Llama  /  IBM watsonx.ai + Granite</a:t>
            </a:r>
          </a:p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Generates grounded answer with cited sources</a:t>
            </a:r>
          </a:p>
        </p:txBody>
      </p:sp>
      <p:sp>
        <p:nvSpPr>
          <p:cNvPr id="100099" name="Benefit"/>
          <p:cNvSpPr txBox="1"/>
          <p:nvPr/>
        </p:nvSpPr>
        <p:spPr>
          <a:xfrm xmlns:a="http://schemas.openxmlformats.org/drawingml/2006/main">
            <a:off x="540000" y="4752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6EE7B7"/>
                </a:solidFill>
              </a:rPr>
              <a:t>Result: Zero hallucination on crop facts  •  Source always cited  •  Works offline (no internet needed)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0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10</a:t>
            </a:r>
          </a:p>
        </p:txBody>
      </p:sp>
      <p:sp>
        <p:nvSpPr>
          <p:cNvPr id="100101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02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System Workflow</a:t>
            </a:r>
          </a:p>
        </p:txBody>
      </p:sp>
      <p:sp>
        <p:nvSpPr>
          <p:cNvPr id="100103" name="Sub"/>
          <p:cNvSpPr txBox="1"/>
          <p:nvPr/>
        </p:nvSpPr>
        <p:spPr>
          <a:xfrm xmlns:a="http://schemas.openxmlformats.org/drawingml/2006/main">
            <a:off x="540000" y="972000"/>
            <a:ext cx="90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57606A"/>
                </a:solidFill>
              </a:rPr>
              <a:t>End-to-end demo: Ask → Route → Retrieve → Generate → Display</a:t>
            </a:r>
          </a:p>
        </p:txBody>
      </p:sp>
      <p:sp>
        <p:nvSpPr>
          <p:cNvPr id="100104" name="W1"/>
          <p:cNvSpPr txBox="1"/>
          <p:nvPr/>
        </p:nvSpPr>
        <p:spPr>
          <a:xfrm xmlns:a="http://schemas.openxmlformats.org/drawingml/2006/main">
            <a:off x="360000" y="1368000"/>
            <a:ext cx="32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① Farmer visits AgriPulse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Clicks 'Load Demo Farm'</a:t>
            </a:r>
          </a:p>
        </p:txBody>
      </p:sp>
      <p:sp>
        <p:nvSpPr>
          <p:cNvPr id="100105" name="W2"/>
          <p:cNvSpPr txBox="1"/>
          <p:nvPr/>
        </p:nvSpPr>
        <p:spPr>
          <a:xfrm xmlns:a="http://schemas.openxmlformats.org/drawingml/2006/main">
            <a:off x="3960000" y="1368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② Dashboard loads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Crop • Weather • Soil • Risk cards + Action Plan</a:t>
            </a:r>
          </a:p>
        </p:txBody>
      </p:sp>
      <p:sp>
        <p:nvSpPr>
          <p:cNvPr id="100106" name="W3"/>
          <p:cNvSpPr txBox="1"/>
          <p:nvPr/>
        </p:nvSpPr>
        <p:spPr>
          <a:xfrm xmlns:a="http://schemas.openxmlformats.org/drawingml/2006/main">
            <a:off x="7920000" y="1368000"/>
            <a:ext cx="34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③ Farmer opens AI Advisor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Asks: "Should I irrigate today?"</a:t>
            </a:r>
          </a:p>
        </p:txBody>
      </p:sp>
      <p:sp>
        <p:nvSpPr>
          <p:cNvPr id="100107" name="W4"/>
          <p:cNvSpPr txBox="1"/>
          <p:nvPr/>
        </p:nvSpPr>
        <p:spPr>
          <a:xfrm xmlns:a="http://schemas.openxmlformats.org/drawingml/2006/main">
            <a:off x="360000" y="2592000"/>
            <a:ext cx="32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④ Supervisor routes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Weather + Crop + RAG agents selected</a:t>
            </a:r>
          </a:p>
        </p:txBody>
      </p:sp>
      <p:sp>
        <p:nvSpPr>
          <p:cNvPr id="100108" name="W5"/>
          <p:cNvSpPr txBox="1"/>
          <p:nvPr/>
        </p:nvSpPr>
        <p:spPr>
          <a:xfrm xmlns:a="http://schemas.openxmlformats.org/drawingml/2006/main">
            <a:off x="3960000" y="2592000"/>
            <a:ext cx="36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⑤ Agents run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Weather: DELAY  •  Crop: Flowering stage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RAG: Irrigation Management doc retrieved</a:t>
            </a:r>
          </a:p>
        </p:txBody>
      </p:sp>
      <p:sp>
        <p:nvSpPr>
          <p:cNvPr id="100109" name="W6"/>
          <p:cNvSpPr txBox="1"/>
          <p:nvPr/>
        </p:nvSpPr>
        <p:spPr>
          <a:xfrm xmlns:a="http://schemas.openxmlformats.org/drawingml/2006/main">
            <a:off x="7920000" y="2592000"/>
            <a:ext cx="34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⑥ Llama synthesises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One clear recommendation generated</a:t>
            </a:r>
          </a:p>
        </p:txBody>
      </p:sp>
      <p:sp>
        <p:nvSpPr>
          <p:cNvPr id="100110" name="W7"/>
          <p:cNvSpPr txBox="1"/>
          <p:nvPr/>
        </p:nvSpPr>
        <p:spPr>
          <a:xfrm xmlns:a="http://schemas.openxmlformats.org/drawingml/2006/main">
            <a:off x="360000" y="3816000"/>
            <a:ext cx="32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⑦ Response displayed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Recommendation • Why • Agents used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Sources • Confidence</a:t>
            </a:r>
          </a:p>
        </p:txBody>
      </p:sp>
      <p:sp>
        <p:nvSpPr>
          <p:cNvPr id="100111" name="W8"/>
          <p:cNvSpPr txBox="1"/>
          <p:nvPr/>
        </p:nvSpPr>
        <p:spPr>
          <a:xfrm xmlns:a="http://schemas.openxmlformats.org/drawingml/2006/main">
            <a:off x="3960000" y="3816000"/>
            <a:ext cx="36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⑧ Saved to PostgreSQL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AI recommendation + agent logs stored</a:t>
            </a:r>
          </a:p>
        </p:txBody>
      </p:sp>
      <p:sp>
        <p:nvSpPr>
          <p:cNvPr id="100112" name="W9"/>
          <p:cNvSpPr txBox="1"/>
          <p:nvPr/>
        </p:nvSpPr>
        <p:spPr>
          <a:xfrm xmlns:a="http://schemas.openxmlformats.org/drawingml/2006/main">
            <a:off x="7920000" y="3816000"/>
            <a:ext cx="34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⑨ Farm Timeline updated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Event recorded in crop history</a:t>
            </a:r>
          </a:p>
        </p:txBody>
      </p:sp>
      <p:sp>
        <p:nvSpPr>
          <p:cNvPr id="100113" name="DemoTime"/>
          <p:cNvSpPr txBox="1"/>
          <p:nvPr/>
        </p:nvSpPr>
        <p:spPr>
          <a:xfrm xmlns:a="http://schemas.openxmlformats.org/drawingml/2006/main">
            <a:off x="2880000" y="5040000"/>
            <a:ext cx="61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5803D"/>
                </a:solidFill>
              </a:rPr>
              <a:t>⏱ Complete demo flow: under 3 minutes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DF4"/>
        </a:solidFill>
      </p:bgPr>
    </p:bg>
    <p:spTree>
      <p:nvGrpSpPr>
        <p:cNvPr id="1" name=""/>
        <p:cNvGrpSpPr/>
        <p:nvPr/>
      </p:nvGrpSpPr>
      <p:grpSpPr/>
      <p:sp>
        <p:nvSpPr>
          <p:cNvPr id="100114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11</a:t>
            </a:r>
          </a:p>
        </p:txBody>
      </p:sp>
      <p:sp>
        <p:nvSpPr>
          <p:cNvPr id="100115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16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Project Output / Website</a:t>
            </a:r>
          </a:p>
        </p:txBody>
      </p:sp>
      <p:sp>
        <p:nvSpPr>
          <p:cNvPr id="100117" name="Pages"/>
          <p:cNvSpPr txBox="1"/>
          <p:nvPr/>
        </p:nvSpPr>
        <p:spPr>
          <a:xfrm xmlns:a="http://schemas.openxmlformats.org/drawingml/2006/main">
            <a:off x="54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Pages Built</a:t>
            </a:r>
          </a:p>
        </p:txBody>
      </p:sp>
      <p:sp>
        <p:nvSpPr>
          <p:cNvPr id="100118" name="PageList"/>
          <p:cNvSpPr txBox="1"/>
          <p:nvPr/>
        </p:nvSpPr>
        <p:spPr>
          <a:xfrm xmlns:a="http://schemas.openxmlformats.org/drawingml/2006/main">
            <a:off x="540000" y="1440000"/>
            <a:ext cx="504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🏠  Landing Page — hero, architecture diagram, tech stack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⚙  Farm Setup — form with Load Demo Farm button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📊  Dashboard — farm cards, action plan, agent status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💬  AI Advisor — real-time chat with agent provenance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🔬  Crop Health — image upload + demo analysis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🌤  Weather — conditions, soil moisture, irrigation decision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📅  Farm Timeline — crop history, growth stage reference</a:t>
            </a:r>
          </a:p>
        </p:txBody>
      </p:sp>
      <p:sp>
        <p:nvSpPr>
          <p:cNvPr id="100119" name="Features"/>
          <p:cNvSpPr txBox="1"/>
          <p:nvPr/>
        </p:nvSpPr>
        <p:spPr>
          <a:xfrm xmlns:a="http://schemas.openxmlformats.org/drawingml/2006/main">
            <a:off x="594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Key UI Features</a:t>
            </a:r>
          </a:p>
        </p:txBody>
      </p:sp>
      <p:sp>
        <p:nvSpPr>
          <p:cNvPr id="100120" name="FeatureList"/>
          <p:cNvSpPr txBox="1"/>
          <p:nvPr/>
        </p:nvSpPr>
        <p:spPr>
          <a:xfrm xmlns:a="http://schemas.openxmlformats.org/drawingml/2006/main">
            <a:off x="5940000" y="1440000"/>
            <a:ext cx="504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Forest green + white design system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Agent status panel — live health indicators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Confidence badge on every AI response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Sources cited from knowledge base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Demo data clearly labelled (never fake live)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Quick question chips in chat UI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7-day weather outlook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Growth stage timeline with future harvest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</a:rPr>
              <a:t>✅  Responsive sidebar navigation</a:t>
            </a:r>
          </a:p>
        </p:txBody>
      </p:sp>
      <p:sp>
        <p:nvSpPr>
          <p:cNvPr id="100121" name="URL"/>
          <p:cNvSpPr txBox="1"/>
          <p:nvPr/>
        </p:nvSpPr>
        <p:spPr>
          <a:xfrm xmlns:a="http://schemas.openxmlformats.org/drawingml/2006/main">
            <a:off x="540000" y="5328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5803D"/>
                </a:solidFill>
              </a:rPr>
              <a:t>http://localhost:5173  (Docker Compose)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2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12</a:t>
            </a:r>
          </a:p>
        </p:txBody>
      </p:sp>
      <p:sp>
        <p:nvSpPr>
          <p:cNvPr id="100123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24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AI Agent Demo &amp; Screenshots</a:t>
            </a:r>
          </a:p>
        </p:txBody>
      </p:sp>
      <p:sp>
        <p:nvSpPr>
          <p:cNvPr id="100125" name="D1Header"/>
          <p:cNvSpPr txBox="1"/>
          <p:nvPr/>
        </p:nvSpPr>
        <p:spPr>
          <a:xfrm xmlns:a="http://schemas.openxmlformats.org/drawingml/2006/main">
            <a:off x="540000" y="108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DEMO FARM — Ramesh, Belagavi, Karnataka</a:t>
            </a:r>
          </a:p>
        </p:txBody>
      </p:sp>
      <p:sp>
        <p:nvSpPr>
          <p:cNvPr id="100126" name="D1"/>
          <p:cNvSpPr txBox="1"/>
          <p:nvPr/>
        </p:nvSpPr>
        <p:spPr>
          <a:xfrm xmlns:a="http://schemas.openxmlformats.org/drawingml/2006/main">
            <a:off x="540000" y="1440000"/>
            <a:ext cx="104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Crop: Tomato  |  Age: 45 days  |  Stage: Flowering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Soil: Loamy  |  Irrigation: Drip  |  Farm: 2.4 acres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Weather: 29°C  |  Rain: 78%  |  Soil Moisture: 64%</a:t>
            </a:r>
          </a:p>
        </p:txBody>
      </p:sp>
      <p:sp>
        <p:nvSpPr>
          <p:cNvPr id="100127" name="Q1Header"/>
          <p:cNvSpPr txBox="1"/>
          <p:nvPr/>
        </p:nvSpPr>
        <p:spPr>
          <a:xfrm xmlns:a="http://schemas.openxmlformats.org/drawingml/2006/main">
            <a:off x="540000" y="234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QUERY → "Should I irrigate my tomato crop today?"</a:t>
            </a:r>
          </a:p>
        </p:txBody>
      </p:sp>
      <p:sp>
        <p:nvSpPr>
          <p:cNvPr id="100128" name="Q1Ans"/>
          <p:cNvSpPr txBox="1"/>
          <p:nvPr/>
        </p:nvSpPr>
        <p:spPr>
          <a:xfrm xmlns:a="http://schemas.openxmlformats.org/drawingml/2006/main">
            <a:off x="540000" y="270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✓ Weather Agent  ✓ Crop Advisory Agent  ✓ RAG Agent  → Confidence: HIGH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"Delay irrigation for Tomato today. Rain probability is 78% — rainfall expected. Soil moisture at 64% is adequate. Tomato at 45 days (Flowering) does not require additional water now. Check again in 2 days."</a:t>
            </a:r>
          </a:p>
        </p:txBody>
      </p:sp>
      <p:sp>
        <p:nvSpPr>
          <p:cNvPr id="100129" name="Q2Header"/>
          <p:cNvSpPr txBox="1"/>
          <p:nvPr/>
        </p:nvSpPr>
        <p:spPr>
          <a:xfrm xmlns:a="http://schemas.openxmlformats.org/drawingml/2006/main">
            <a:off x="540000" y="396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QUERY → "What disease is affecting my tomato leaves?"</a:t>
            </a:r>
          </a:p>
        </p:txBody>
      </p:sp>
      <p:sp>
        <p:nvSpPr>
          <p:cNvPr id="100130" name="Q2Ans"/>
          <p:cNvSpPr txBox="1"/>
          <p:nvPr/>
        </p:nvSpPr>
        <p:spPr>
          <a:xfrm xmlns:a="http://schemas.openxmlformats.org/drawingml/2006/main">
            <a:off x="540000" y="432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✓ Pest &amp; Disease Agent  ✓ RAG Agent  →  Confidence: MEDIUM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"Possible Early Blight (Alternaria solani). Symptoms: brown spots with concentric rings on lower leaves. Apply Mancozeb 75WP @ 2g/L. Remove infected leaves. Avoid overhead irrigation."</a:t>
            </a:r>
          </a:p>
        </p:txBody>
      </p:sp>
      <p:sp>
        <p:nvSpPr>
          <p:cNvPr id="100131" name="LiveNote"/>
          <p:cNvSpPr txBox="1"/>
          <p:nvPr/>
        </p:nvSpPr>
        <p:spPr>
          <a:xfrm xmlns:a="http://schemas.openxmlformats.org/drawingml/2006/main">
            <a:off x="540000" y="5580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5803D"/>
                </a:solidFill>
              </a:rPr>
              <a:t>🔴 LIVE DEMO — Run at http://localhost:5173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132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13</a:t>
            </a:r>
          </a:p>
        </p:txBody>
      </p:sp>
      <p:sp>
        <p:nvSpPr>
          <p:cNvPr id="100133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Novelty &amp; Uniqueness</a:t>
            </a:r>
          </a:p>
        </p:txBody>
      </p:sp>
      <p:sp>
        <p:nvSpPr>
          <p:cNvPr id="100134" name="N1"/>
          <p:cNvSpPr txBox="1"/>
          <p:nvPr/>
        </p:nvSpPr>
        <p:spPr>
          <a:xfrm xmlns:a="http://schemas.openxmlformats.org/drawingml/2006/main">
            <a:off x="540000" y="1080000"/>
            <a:ext cx="50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01  AI Provider Abstraction</a:t>
            </a:r>
          </a:p>
        </p:txBody>
      </p:sp>
      <p:sp>
        <p:nvSpPr>
          <p:cNvPr id="100135" name="N1b"/>
          <p:cNvSpPr txBox="1"/>
          <p:nvPr/>
        </p:nvSpPr>
        <p:spPr>
          <a:xfrm xmlns:a="http://schemas.openxmlformats.org/drawingml/2006/main">
            <a:off x="540000" y="1512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One env variable switches the entire system from Ollama+Llama (local, free) to IBM watsonx.ai+Granite (production). No agent code changes needed.</a:t>
            </a:r>
          </a:p>
        </p:txBody>
      </p:sp>
      <p:sp>
        <p:nvSpPr>
          <p:cNvPr id="100136" name="N2"/>
          <p:cNvSpPr txBox="1"/>
          <p:nvPr/>
        </p:nvSpPr>
        <p:spPr>
          <a:xfrm xmlns:a="http://schemas.openxmlformats.org/drawingml/2006/main">
            <a:off x="6120000" y="1080000"/>
            <a:ext cx="52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02  Supervisor-Routed Agents</a:t>
            </a:r>
          </a:p>
        </p:txBody>
      </p:sp>
      <p:sp>
        <p:nvSpPr>
          <p:cNvPr id="100137" name="N2b"/>
          <p:cNvSpPr txBox="1"/>
          <p:nvPr/>
        </p:nvSpPr>
        <p:spPr>
          <a:xfrm xmlns:a="http://schemas.openxmlformats.org/drawingml/2006/main">
            <a:off x="6120000" y="1512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Instead of one giant prompt, each domain has a specialist. Questions about irrigation never touch the pest agent. Every expert is trained on exactly what they need to know.</a:t>
            </a:r>
          </a:p>
        </p:txBody>
      </p:sp>
      <p:sp>
        <p:nvSpPr>
          <p:cNvPr id="100138" name="N3"/>
          <p:cNvSpPr txBox="1"/>
          <p:nvPr/>
        </p:nvSpPr>
        <p:spPr>
          <a:xfrm xmlns:a="http://schemas.openxmlformats.org/drawingml/2006/main">
            <a:off x="540000" y="2520000"/>
            <a:ext cx="50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03  Real pgvector RAG (not fake)</a:t>
            </a:r>
          </a:p>
        </p:txBody>
      </p:sp>
      <p:sp>
        <p:nvSpPr>
          <p:cNvPr id="100139" name="N3b"/>
          <p:cNvSpPr txBox="1"/>
          <p:nvPr/>
        </p:nvSpPr>
        <p:spPr>
          <a:xfrm xmlns:a="http://schemas.openxmlformats.org/drawingml/2006/main">
            <a:off x="540000" y="2952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Embeddings stored in PostgreSQL using pgvector. Cosine similarity search retrieves relevant chunks. No hallucinated crop facts — answers grounded in actual agricultural science.</a:t>
            </a:r>
          </a:p>
        </p:txBody>
      </p:sp>
      <p:sp>
        <p:nvSpPr>
          <p:cNvPr id="100140" name="N4"/>
          <p:cNvSpPr txBox="1"/>
          <p:nvPr/>
        </p:nvSpPr>
        <p:spPr>
          <a:xfrm xmlns:a="http://schemas.openxmlformats.org/drawingml/2006/main">
            <a:off x="6120000" y="2520000"/>
            <a:ext cx="52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04  Transparent AI Responses</a:t>
            </a:r>
          </a:p>
        </p:txBody>
      </p:sp>
      <p:sp>
        <p:nvSpPr>
          <p:cNvPr id="100141" name="N4b"/>
          <p:cNvSpPr txBox="1"/>
          <p:nvPr/>
        </p:nvSpPr>
        <p:spPr>
          <a:xfrm xmlns:a="http://schemas.openxmlformats.org/drawingml/2006/main">
            <a:off x="6120000" y="2952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Every response shows which agents were consulted, confidence level, and cited sources. Farmers can trust the advice because they can see where it came from.</a:t>
            </a:r>
          </a:p>
        </p:txBody>
      </p:sp>
      <p:sp>
        <p:nvSpPr>
          <p:cNvPr id="100142" name="N5"/>
          <p:cNvSpPr txBox="1"/>
          <p:nvPr/>
        </p:nvSpPr>
        <p:spPr>
          <a:xfrm xmlns:a="http://schemas.openxmlformats.org/drawingml/2006/main">
            <a:off x="540000" y="3960000"/>
            <a:ext cx="50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05  Offline-First Design</a:t>
            </a:r>
          </a:p>
        </p:txBody>
      </p:sp>
      <p:sp>
        <p:nvSpPr>
          <p:cNvPr id="100143" name="N5b"/>
          <p:cNvSpPr txBox="1"/>
          <p:nvPr/>
        </p:nvSpPr>
        <p:spPr>
          <a:xfrm xmlns:a="http://schemas.openxmlformats.org/drawingml/2006/main">
            <a:off x="540000" y="4392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Runs entirely on a local machine — no internet required. Ollama + local embeddings + local PostgreSQL. Critical for rural India where connectivity is limited.</a:t>
            </a:r>
          </a:p>
        </p:txBody>
      </p:sp>
      <p:sp>
        <p:nvSpPr>
          <p:cNvPr id="100144" name="N6"/>
          <p:cNvSpPr txBox="1"/>
          <p:nvPr/>
        </p:nvSpPr>
        <p:spPr>
          <a:xfrm xmlns:a="http://schemas.openxmlformats.org/drawingml/2006/main">
            <a:off x="6120000" y="3960000"/>
            <a:ext cx="522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06  Graceful Fallbacks Everywhere</a:t>
            </a:r>
          </a:p>
        </p:txBody>
      </p:sp>
      <p:sp>
        <p:nvSpPr>
          <p:cNvPr id="100145" name="N6b"/>
          <p:cNvSpPr txBox="1"/>
          <p:nvPr/>
        </p:nvSpPr>
        <p:spPr>
          <a:xfrm xmlns:a="http://schemas.openxmlformats.org/drawingml/2006/main">
            <a:off x="6120000" y="4392000"/>
            <a:ext cx="52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1FAE5"/>
                </a:solidFill>
              </a:rPr>
              <a:t>No external API? Use demo data. LLM down? Rule-based recommendation. Vision model absent? Demo analysis clearly labelled. System never crashes from missing integrations.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46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6A34A"/>
                </a:solidFill>
              </a:rPr>
              <a:t>14</a:t>
            </a:r>
          </a:p>
        </p:txBody>
      </p:sp>
      <p:sp>
        <p:nvSpPr>
          <p:cNvPr id="100147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A34A"/>
                </a:solidFill>
              </a:rPr>
              <a:t> </a:t>
            </a:r>
          </a:p>
        </p:txBody>
      </p:sp>
      <p:sp>
        <p:nvSpPr>
          <p:cNvPr id="100148" name="Title"/>
          <p:cNvSpPr txBox="1"/>
          <p:nvPr/>
        </p:nvSpPr>
        <p:spPr>
          <a:xfrm xmlns:a="http://schemas.openxmlformats.org/drawingml/2006/main">
            <a:off x="540000" y="360000"/>
            <a:ext cx="10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4532D"/>
                </a:solidFill>
              </a:rPr>
              <a:t>Future Scope</a:t>
            </a:r>
          </a:p>
        </p:txBody>
      </p:sp>
      <p:sp>
        <p:nvSpPr>
          <p:cNvPr id="100149" name="ShortTerm"/>
          <p:cNvSpPr txBox="1"/>
          <p:nvPr/>
        </p:nvSpPr>
        <p:spPr>
          <a:xfrm xmlns:a="http://schemas.openxmlformats.org/drawingml/2006/main">
            <a:off x="540000" y="1080000"/>
            <a:ext cx="50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Near-Term (Next Sprint)</a:t>
            </a:r>
          </a:p>
        </p:txBody>
      </p:sp>
      <p:sp>
        <p:nvSpPr>
          <p:cNvPr id="100150" name="STList"/>
          <p:cNvSpPr txBox="1"/>
          <p:nvPr/>
        </p:nvSpPr>
        <p:spPr>
          <a:xfrm xmlns:a="http://schemas.openxmlformats.org/drawingml/2006/main">
            <a:off x="540000" y="1440000"/>
            <a:ext cx="504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🔌  IBM watsonx.ai + Granite live integration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📡  OpenWeatherMap / IMD live weather API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🔭  LLaVA vision model for real crop image diagnosis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📱  WhatsApp / SMS advisory integration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🌐  Kannada + Hindi language support</a:t>
            </a:r>
          </a:p>
        </p:txBody>
      </p:sp>
      <p:sp>
        <p:nvSpPr>
          <p:cNvPr id="100151" name="LongTerm"/>
          <p:cNvSpPr txBox="1"/>
          <p:nvPr/>
        </p:nvSpPr>
        <p:spPr>
          <a:xfrm xmlns:a="http://schemas.openxmlformats.org/drawingml/2006/main">
            <a:off x="5940000" y="1080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Long-Term Vision</a:t>
            </a:r>
          </a:p>
        </p:txBody>
      </p:sp>
      <p:sp>
        <p:nvSpPr>
          <p:cNvPr id="100152" name="LTList"/>
          <p:cNvSpPr txBox="1"/>
          <p:nvPr/>
        </p:nvSpPr>
        <p:spPr>
          <a:xfrm xmlns:a="http://schemas.openxmlformats.org/drawingml/2006/main">
            <a:off x="5940000" y="1440000"/>
            <a:ext cx="522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📊  Yield prediction and market price alerts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🗺  GPS-based farm mapping with satellite NDVI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🏛  Government scheme + subsidy recommendations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👥  Farmer community Q&amp;A + peer knowledge sharing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🤝  Integration with Krishi Vigyan Kendra network</a:t>
            </a:r>
          </a:p>
        </p:txBody>
      </p:sp>
      <p:sp>
        <p:nvSpPr>
          <p:cNvPr id="100153" name="IBMNote"/>
          <p:cNvSpPr txBox="1"/>
          <p:nvPr/>
        </p:nvSpPr>
        <p:spPr>
          <a:xfrm xmlns:a="http://schemas.openxmlformats.org/drawingml/2006/main">
            <a:off x="540000" y="360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IBM Deployment Path</a:t>
            </a:r>
          </a:p>
        </p:txBody>
      </p:sp>
      <p:sp>
        <p:nvSpPr>
          <p:cNvPr id="100154" name="IBMBody"/>
          <p:cNvSpPr txBox="1"/>
          <p:nvPr/>
        </p:nvSpPr>
        <p:spPr>
          <a:xfrm xmlns:a="http://schemas.openxmlformats.org/drawingml/2006/main">
            <a:off x="540000" y="396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1: Set AI_PROVIDER=ibm  +  add IBM_WATSONX_API_KEY + IBM_WATSONX_PROJECT_ID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2: Deploy to IBM Cloud Kubernetes (IKS) or Code Engine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3: Connect to IBM Databases for PostgreSQL (managed, pgvector ready)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No agent code changes required — the abstraction layer handles the rest.</a:t>
            </a:r>
          </a:p>
        </p:txBody>
      </p:sp>
      <p:sp>
        <p:nvSpPr>
          <p:cNvPr id="100155" name="Impact"/>
          <p:cNvSpPr txBox="1"/>
          <p:nvPr/>
        </p:nvSpPr>
        <p:spPr>
          <a:xfrm xmlns:a="http://schemas.openxmlformats.org/drawingml/2006/main">
            <a:off x="540000" y="522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5803D"/>
                </a:solidFill>
              </a:rPr>
              <a:t>🌱 Impact Goal: Reduce crop losses by 20% for 1 million+ small farmers in Karnataka by 2026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A3C2A"/>
        </a:solidFill>
      </p:bgPr>
    </p:bg>
    <p:spTree>
      <p:nvGrpSpPr>
        <p:cNvPr id="1" name=""/>
        <p:cNvGrpSpPr/>
        <p:nvPr/>
      </p:nvGrpSpPr>
      <p:grpSpPr/>
      <p:sp>
        <p:nvSpPr>
          <p:cNvPr id="100156" name="SlideNum"/>
          <p:cNvSpPr txBox="1"/>
          <p:nvPr/>
        </p:nvSpPr>
        <p:spPr>
          <a:xfrm xmlns:a="http://schemas.openxmlformats.org/drawingml/2006/main">
            <a:off x="10800000" y="18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6EFAC"/>
                </a:solidFill>
              </a:rPr>
              <a:t>15</a:t>
            </a:r>
          </a:p>
        </p:txBody>
      </p:sp>
      <p:sp>
        <p:nvSpPr>
          <p:cNvPr id="100157" name="Title"/>
          <p:cNvSpPr txBox="1"/>
          <p:nvPr/>
        </p:nvSpPr>
        <p:spPr>
          <a:xfrm xmlns:a="http://schemas.openxmlformats.org/drawingml/2006/main">
            <a:off x="720000" y="720000"/>
            <a:ext cx="104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158" name="Tag"/>
          <p:cNvSpPr txBox="1"/>
          <p:nvPr/>
        </p:nvSpPr>
        <p:spPr>
          <a:xfrm xmlns:a="http://schemas.openxmlformats.org/drawingml/2006/main">
            <a:off x="720000" y="198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86EFAC"/>
                </a:solidFill>
              </a:rPr>
              <a:t>AgriPulse AI  —  Smart Advice. Better Farming.</a:t>
            </a:r>
          </a:p>
        </p:txBody>
      </p:sp>
      <p:sp>
        <p:nvSpPr>
          <p:cNvPr id="100159" name="PSTag"/>
          <p:cNvSpPr txBox="1"/>
          <p:nvPr/>
        </p:nvSpPr>
        <p:spPr>
          <a:xfrm xmlns:a="http://schemas.openxmlformats.org/drawingml/2006/main">
            <a:off x="720000" y="252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EE7B7"/>
                </a:solidFill>
              </a:rPr>
              <a:t>Hackathon  •  Problem Statement 14  •  AI Agent for Smart Farming Advice</a:t>
            </a:r>
          </a:p>
        </p:txBody>
      </p:sp>
      <p:sp>
        <p:nvSpPr>
          <p:cNvPr id="100160" name="Divider"/>
          <p:cNvSpPr txBox="1"/>
          <p:nvPr/>
        </p:nvSpPr>
        <p:spPr>
          <a:xfrm xmlns:a="http://schemas.openxmlformats.org/drawingml/2006/main">
            <a:off x="720000" y="2952000"/>
            <a:ext cx="100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6534"/>
                </a:solidFill>
              </a:rPr>
              <a:t> </a:t>
            </a:r>
          </a:p>
        </p:txBody>
      </p:sp>
      <p:sp>
        <p:nvSpPr>
          <p:cNvPr id="100161" name="Stack"/>
          <p:cNvSpPr txBox="1"/>
          <p:nvPr/>
        </p:nvSpPr>
        <p:spPr>
          <a:xfrm xmlns:a="http://schemas.openxmlformats.org/drawingml/2006/main">
            <a:off x="720000" y="316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EE7B7"/>
                </a:solidFill>
              </a:rPr>
              <a:t>React + Vite   |   FastAPI   |   PostgreSQL + pgvector   |   Ollama + Llama 3.2   |   IBM Granite ready   |   Docker Compose</a:t>
            </a:r>
          </a:p>
        </p:txBody>
      </p:sp>
      <p:sp>
        <p:nvSpPr>
          <p:cNvPr id="100162" name="AgentsList"/>
          <p:cNvSpPr txBox="1"/>
          <p:nvPr/>
        </p:nvSpPr>
        <p:spPr>
          <a:xfrm xmlns:a="http://schemas.openxmlformats.org/drawingml/2006/main">
            <a:off x="720000" y="360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6EFAC"/>
                </a:solidFill>
              </a:rPr>
              <a:t>🌱 Crop Advisory Agent     🌦 Weather &amp; Irrigation Agent     🐛 Pest &amp; Disease Agent     📚 RAG Knowledge Agent</a:t>
            </a:r>
          </a:p>
        </p:txBody>
      </p:sp>
      <p:sp>
        <p:nvSpPr>
          <p:cNvPr id="100163" name="GHLabel"/>
          <p:cNvSpPr txBox="1"/>
          <p:nvPr/>
        </p:nvSpPr>
        <p:spPr>
          <a:xfrm xmlns:a="http://schemas.openxmlformats.org/drawingml/2006/main">
            <a:off x="720000" y="432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6EFAC"/>
                </a:solidFill>
              </a:rPr>
              <a:t>GitHub / Project</a:t>
            </a:r>
          </a:p>
        </p:txBody>
      </p:sp>
      <p:sp>
        <p:nvSpPr>
          <p:cNvPr id="100164" name="GH"/>
          <p:cNvSpPr txBox="1"/>
          <p:nvPr/>
        </p:nvSpPr>
        <p:spPr>
          <a:xfrm xmlns:a="http://schemas.openxmlformats.org/drawingml/2006/main">
            <a:off x="720000" y="4644000"/>
            <a:ext cx="79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AgriPulse/AgriPulse  (add your GitHub URL here)</a:t>
            </a:r>
          </a:p>
        </p:txBody>
      </p:sp>
      <p:sp>
        <p:nvSpPr>
          <p:cNvPr id="100165" name="DemoLabel"/>
          <p:cNvSpPr txBox="1"/>
          <p:nvPr/>
        </p:nvSpPr>
        <p:spPr>
          <a:xfrm xmlns:a="http://schemas.openxmlformats.org/drawingml/2006/main">
            <a:off x="720000" y="504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6EFAC"/>
                </a:solidFill>
              </a:rPr>
              <a:t>Live Demo</a:t>
            </a:r>
          </a:p>
        </p:txBody>
      </p:sp>
      <p:sp>
        <p:nvSpPr>
          <p:cNvPr id="100166" name="Demo"/>
          <p:cNvSpPr txBox="1"/>
          <p:nvPr/>
        </p:nvSpPr>
        <p:spPr>
          <a:xfrm xmlns:a="http://schemas.openxmlformats.org/drawingml/2006/main">
            <a:off x="720000" y="5364000"/>
            <a:ext cx="90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http://localhost:5173  (docker compose up → ready in seconds)</a:t>
            </a:r>
          </a:p>
        </p:txBody>
      </p:sp>
      <p:sp>
        <p:nvSpPr>
          <p:cNvPr id="100167" name="QA"/>
          <p:cNvSpPr txBox="1"/>
          <p:nvPr/>
        </p:nvSpPr>
        <p:spPr>
          <a:xfrm xmlns:a="http://schemas.openxmlformats.org/drawingml/2006/main">
            <a:off x="720000" y="5940000"/>
            <a:ext cx="54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D1FAE5"/>
                </a:solidFill>
              </a:rPr>
              <a:t>Questions? 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2026-09-23T10:36:12Z</dcterms:created>
  <cp:lastModifiedBy>OfficeCLI</cp:lastModifiedBy>
  <dcterms:modified xsi:type="dcterms:W3CDTF">2026-09-23T10:36:12Z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2026-09-23T10:40:55Z</vt:lpwstr>
  </op:property>
</op:Properties>
</file>